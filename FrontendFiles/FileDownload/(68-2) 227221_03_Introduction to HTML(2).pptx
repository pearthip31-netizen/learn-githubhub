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embeddedFontLs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Corbel" panose="020B05030202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CWzeeP+ybtF01XnBj8TpTRXuN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BEE984-6589-4D63-B493-26A4D395C885}">
  <a:tblStyle styleId="{78BEE984-6589-4D63-B493-26A4D395C885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3F7"/>
          </a:solidFill>
        </a:fill>
      </a:tcStyle>
    </a:wholeTbl>
    <a:band1H>
      <a:tcTxStyle/>
      <a:tcStyle>
        <a:tcBdr/>
        <a:fill>
          <a:solidFill>
            <a:srgbClr val="CDE6E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E6E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customschemas.google.com/relationships/presentationmetadata" Target="meta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HAPNON NOILA" userId="S::68023582@up.ac.th::939d2c70-6742-47ca-9977-eda208f6e53b" providerId="AD" clId="Web-{5C42F1CA-D286-A185-9D76-10C8E33AFAFF}"/>
    <pc:docChg chg="delSld">
      <pc:chgData name="SUPHAPNON NOILA" userId="S::68023582@up.ac.th::939d2c70-6742-47ca-9977-eda208f6e53b" providerId="AD" clId="Web-{5C42F1CA-D286-A185-9D76-10C8E33AFAFF}" dt="2025-11-17T09:06:41.588" v="0"/>
      <pc:docMkLst>
        <pc:docMk/>
      </pc:docMkLst>
      <pc:sldChg chg="del">
        <pc:chgData name="SUPHAPNON NOILA" userId="S::68023582@up.ac.th::939d2c70-6742-47ca-9977-eda208f6e53b" providerId="AD" clId="Web-{5C42F1CA-D286-A185-9D76-10C8E33AFAFF}" dt="2025-11-17T09:06:41.588" v="0"/>
        <pc:sldMkLst>
          <pc:docMk/>
          <pc:sldMk cId="0" sldId="271"/>
        </pc:sldMkLst>
      </pc:sldChg>
    </pc:docChg>
  </pc:docChgLst>
  <pc:docChgLst>
    <pc:chgData name="PANCHARAT THONGNA" userId="S::68023324@up.ac.th::30819980-e9b4-4d68-a8c9-63ef426bb5d6" providerId="AD" clId="Web-{27621ED2-842A-22DD-F34E-21222FCEB35E}"/>
    <pc:docChg chg="modSld">
      <pc:chgData name="PANCHARAT THONGNA" userId="S::68023324@up.ac.th::30819980-e9b4-4d68-a8c9-63ef426bb5d6" providerId="AD" clId="Web-{27621ED2-842A-22DD-F34E-21222FCEB35E}" dt="2025-11-17T08:43:32.715" v="2" actId="20577"/>
      <pc:docMkLst>
        <pc:docMk/>
      </pc:docMkLst>
      <pc:sldChg chg="modSp">
        <pc:chgData name="PANCHARAT THONGNA" userId="S::68023324@up.ac.th::30819980-e9b4-4d68-a8c9-63ef426bb5d6" providerId="AD" clId="Web-{27621ED2-842A-22DD-F34E-21222FCEB35E}" dt="2025-11-17T08:43:32.715" v="2" actId="20577"/>
        <pc:sldMkLst>
          <pc:docMk/>
          <pc:sldMk cId="0" sldId="270"/>
        </pc:sldMkLst>
        <pc:spChg chg="mod">
          <ac:chgData name="PANCHARAT THONGNA" userId="S::68023324@up.ac.th::30819980-e9b4-4d68-a8c9-63ef426bb5d6" providerId="AD" clId="Web-{27621ED2-842A-22DD-F34E-21222FCEB35E}" dt="2025-11-17T08:43:32.715" v="2" actId="20577"/>
          <ac:spMkLst>
            <pc:docMk/>
            <pc:sldMk cId="0" sldId="270"/>
            <ac:spMk id="218" creationId="{00000000-0000-0000-0000-000000000000}"/>
          </ac:spMkLst>
        </pc:spChg>
      </pc:sldChg>
    </pc:docChg>
  </pc:docChgLst>
  <pc:docChgLst>
    <pc:chgData name="THANA THIWONG" userId="S::68023188@up.ac.th::a1ab285f-06a3-4e9c-8fb0-5f54d3326503" providerId="AD" clId="Web-{BF614073-204A-5F73-C2CC-B4749B089DC0}"/>
    <pc:docChg chg="modSld">
      <pc:chgData name="THANA THIWONG" userId="S::68023188@up.ac.th::a1ab285f-06a3-4e9c-8fb0-5f54d3326503" providerId="AD" clId="Web-{BF614073-204A-5F73-C2CC-B4749B089DC0}" dt="2025-11-17T08:22:36.684" v="1" actId="20577"/>
      <pc:docMkLst>
        <pc:docMk/>
      </pc:docMkLst>
      <pc:sldChg chg="modSp">
        <pc:chgData name="THANA THIWONG" userId="S::68023188@up.ac.th::a1ab285f-06a3-4e9c-8fb0-5f54d3326503" providerId="AD" clId="Web-{BF614073-204A-5F73-C2CC-B4749B089DC0}" dt="2025-11-17T08:22:36.684" v="1" actId="20577"/>
        <pc:sldMkLst>
          <pc:docMk/>
          <pc:sldMk cId="0" sldId="270"/>
        </pc:sldMkLst>
        <pc:spChg chg="mod">
          <ac:chgData name="THANA THIWONG" userId="S::68023188@up.ac.th::a1ab285f-06a3-4e9c-8fb0-5f54d3326503" providerId="AD" clId="Web-{BF614073-204A-5F73-C2CC-B4749B089DC0}" dt="2025-11-17T08:22:36.684" v="1" actId="20577"/>
          <ac:spMkLst>
            <pc:docMk/>
            <pc:sldMk cId="0" sldId="270"/>
            <ac:spMk id="218" creationId="{00000000-0000-0000-0000-000000000000}"/>
          </ac:spMkLst>
        </pc:spChg>
      </pc:sldChg>
    </pc:docChg>
  </pc:docChgLst>
  <pc:docChgLst>
    <pc:chgData name="PANATTHINEE RUANGRUM" userId="S::68023302@up.ac.th::3e1a6857-c567-4066-90f1-b09cb2f3830c" providerId="AD" clId="Web-{29E4E116-C483-B396-1988-9FA3E76631D8}"/>
    <pc:docChg chg="modSld">
      <pc:chgData name="PANATTHINEE RUANGRUM" userId="S::68023302@up.ac.th::3e1a6857-c567-4066-90f1-b09cb2f3830c" providerId="AD" clId="Web-{29E4E116-C483-B396-1988-9FA3E76631D8}" dt="2025-11-17T08:31:45.838" v="0" actId="1076"/>
      <pc:docMkLst>
        <pc:docMk/>
      </pc:docMkLst>
      <pc:sldChg chg="modSp">
        <pc:chgData name="PANATTHINEE RUANGRUM" userId="S::68023302@up.ac.th::3e1a6857-c567-4066-90f1-b09cb2f3830c" providerId="AD" clId="Web-{29E4E116-C483-B396-1988-9FA3E76631D8}" dt="2025-11-17T08:31:45.838" v="0" actId="1076"/>
        <pc:sldMkLst>
          <pc:docMk/>
          <pc:sldMk cId="0" sldId="269"/>
        </pc:sldMkLst>
        <pc:spChg chg="mod">
          <ac:chgData name="PANATTHINEE RUANGRUM" userId="S::68023302@up.ac.th::3e1a6857-c567-4066-90f1-b09cb2f3830c" providerId="AD" clId="Web-{29E4E116-C483-B396-1988-9FA3E76631D8}" dt="2025-11-17T08:31:45.838" v="0" actId="1076"/>
          <ac:spMkLst>
            <pc:docMk/>
            <pc:sldMk cId="0" sldId="269"/>
            <ac:spMk id="212" creationId="{00000000-0000-0000-0000-000000000000}"/>
          </ac:spMkLst>
        </pc:spChg>
      </pc:sldChg>
    </pc:docChg>
  </pc:docChgLst>
  <pc:docChgLst>
    <pc:chgData name="SAWSAR -" userId="S::68023065@up.ac.th::9b587378-eeb5-4b7e-bd48-0db48f696264" providerId="AD" clId="Web-{4CB1A6C5-9D50-25BF-06A7-E1B270A44484}"/>
    <pc:docChg chg="modSld">
      <pc:chgData name="SAWSAR -" userId="S::68023065@up.ac.th::9b587378-eeb5-4b7e-bd48-0db48f696264" providerId="AD" clId="Web-{4CB1A6C5-9D50-25BF-06A7-E1B270A44484}" dt="2025-11-17T08:06:06.780" v="3" actId="20577"/>
      <pc:docMkLst>
        <pc:docMk/>
      </pc:docMkLst>
      <pc:sldChg chg="modSp">
        <pc:chgData name="SAWSAR -" userId="S::68023065@up.ac.th::9b587378-eeb5-4b7e-bd48-0db48f696264" providerId="AD" clId="Web-{4CB1A6C5-9D50-25BF-06A7-E1B270A44484}" dt="2025-11-17T08:06:06.780" v="3" actId="20577"/>
        <pc:sldMkLst>
          <pc:docMk/>
          <pc:sldMk cId="0" sldId="267"/>
        </pc:sldMkLst>
        <pc:spChg chg="mod">
          <ac:chgData name="SAWSAR -" userId="S::68023065@up.ac.th::9b587378-eeb5-4b7e-bd48-0db48f696264" providerId="AD" clId="Web-{4CB1A6C5-9D50-25BF-06A7-E1B270A44484}" dt="2025-11-17T08:06:06.780" v="3" actId="20577"/>
          <ac:spMkLst>
            <pc:docMk/>
            <pc:sldMk cId="0" sldId="267"/>
            <ac:spMk id="19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  <a:defRPr sz="59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900"/>
              <a:buFont typeface="Corbel"/>
              <a:buNone/>
              <a:defRPr sz="5900" b="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2"/>
          </p:nvPr>
        </p:nvSpPr>
        <p:spPr>
          <a:xfrm>
            <a:off x="7818120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2"/>
          </p:nvPr>
        </p:nvSpPr>
        <p:spPr>
          <a:xfrm>
            <a:off x="3867912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3"/>
          </p:nvPr>
        </p:nvSpPr>
        <p:spPr>
          <a:xfrm>
            <a:off x="7818463" y="1023586"/>
            <a:ext cx="3474720" cy="81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4"/>
          </p:nvPr>
        </p:nvSpPr>
        <p:spPr>
          <a:xfrm>
            <a:off x="7818463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body" idx="2"/>
          </p:nvPr>
        </p:nvSpPr>
        <p:spPr>
          <a:xfrm>
            <a:off x="256032" y="3494176"/>
            <a:ext cx="2834640" cy="23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5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>
            <a:spLocks noGrp="1"/>
          </p:cNvSpPr>
          <p:nvPr>
            <p:ph type="pic" idx="2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35"/>
          <p:cNvSpPr txBox="1">
            <a:spLocks noGrp="1"/>
          </p:cNvSpPr>
          <p:nvPr>
            <p:ph type="body" idx="1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ftr" idx="11"/>
          </p:nvPr>
        </p:nvSpPr>
        <p:spPr>
          <a:xfrm>
            <a:off x="3499101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body" idx="1"/>
          </p:nvPr>
        </p:nvSpPr>
        <p:spPr>
          <a:xfrm rot="5400000">
            <a:off x="4966548" y="-233172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"/>
          <p:cNvSpPr txBox="1">
            <a:spLocks noGrp="1"/>
          </p:cNvSpPr>
          <p:nvPr>
            <p:ph type="title"/>
          </p:nvPr>
        </p:nvSpPr>
        <p:spPr>
          <a:xfrm rot="5400000">
            <a:off x="-685800" y="2057400"/>
            <a:ext cx="49530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body" idx="1"/>
          </p:nvPr>
        </p:nvSpPr>
        <p:spPr>
          <a:xfrm rot="5400000">
            <a:off x="4965192" y="-228600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6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ecode.blog/categories/basics-of-web-development/articles/organizing-html-cod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tml.com/" TargetMode="External"/><Relationship Id="rId4" Type="http://schemas.openxmlformats.org/officeDocument/2006/relationships/hyperlink" Target="https://html5-tutorial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orbel"/>
              <a:buNone/>
            </a:pPr>
            <a:r>
              <a:rPr lang="en-US" sz="5400"/>
              <a:t>(227221) </a:t>
            </a:r>
            <a:br>
              <a:rPr lang="en-US" sz="5400"/>
            </a:br>
            <a:r>
              <a:rPr lang="en-US" sz="5400"/>
              <a:t>Introduction to HTML5 (2)</a:t>
            </a:r>
            <a:endParaRPr/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MATHAYA RATCHAKOM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แท็กและอิลิเมนต์ของ HTML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แอตทริบิวต์ของแท็ก HTML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สิ่งที่จำเป็นต้องมีใน tag &lt;head&gt;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Tag อื่นๆ ที่น่าสนใจ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อักขระพิเศษที่ใช้บ่อย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การจัดรูปแบบให้ตรงกับใน code ด้วย tag &lt;pre&gt;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การสร้างรายการแบบลำดับต่อเนื่อง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การสร้างรายการแบบไม่เป็นลำดับต่อเนื่อง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การสร้างรายการแบบคำบรรยาย</a:t>
            </a:r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สร้างการเชื่อมโยงในเว็บไซต์เดียวกัน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ลิ้งก์สำหรับการส่งอีเมล mailto</a:t>
            </a:r>
            <a:endParaRPr sz="28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ลิ้งก์สำหรับการดาวน์โหลดไฟล์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การแสดงรูปภาพบนเว็บเพจ</a:t>
            </a:r>
            <a:endParaRPr sz="16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การเล่นไฟล์มัลติเมเดียบนเว็บเพจ (Video &amp; Audio)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การแสดงวิดีโอจาก YouTube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การสร้าง basic table</a:t>
            </a:r>
            <a:endParaRPr sz="16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SOURCES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แท็กและอิลิเมนต์ของ HTML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เว็บเพจ html ประกอบด้วยองค์ประกอบย่อยๆ แต่ล่ะอย่างมารวมกัน เช่น ข้อความ รูปภาพ ฟอร์ม หรืออื่นๆ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องค์ประกอบย่อยๆ เหล่านี้ เรียกว่า อิลิเมนต์ (Element) โดยมีรูปแบบและข้อกำหนดแตกต่างกัน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ใช้วิธีการทำเครื่องหมายหรือสัญลักษณ์ ที่เรียกว่า แท็ก (Tag) ในการระบุขอบเขตและลักษณะของแต่ล่ะ element</a:t>
            </a:r>
            <a:endParaRPr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15" name="Google Shape;115;p4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790432" y="4605340"/>
            <a:ext cx="3233496" cy="52322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&lt;p&gt;Hello World!&lt;/p&gt;</a:t>
            </a:r>
            <a:endParaRPr/>
          </a:p>
        </p:txBody>
      </p:sp>
      <p:cxnSp>
        <p:nvCxnSpPr>
          <p:cNvPr id="117" name="Google Shape;117;p4"/>
          <p:cNvCxnSpPr/>
          <p:nvPr/>
        </p:nvCxnSpPr>
        <p:spPr>
          <a:xfrm>
            <a:off x="5203681" y="4858327"/>
            <a:ext cx="4802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" name="Google Shape;118;p4"/>
          <p:cNvSpPr txBox="1"/>
          <p:nvPr/>
        </p:nvSpPr>
        <p:spPr>
          <a:xfrm>
            <a:off x="4178445" y="4682284"/>
            <a:ext cx="10252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element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681740" y="5441395"/>
            <a:ext cx="1714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เนื้อหา (Content)</a:t>
            </a:r>
            <a:endParaRPr sz="20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5790432" y="3748730"/>
            <a:ext cx="8089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แท็กเปิด 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8228832" y="3776925"/>
            <a:ext cx="80895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แท็กปิด </a:t>
            </a:r>
            <a:endParaRPr/>
          </a:p>
        </p:txBody>
      </p:sp>
      <p:cxnSp>
        <p:nvCxnSpPr>
          <p:cNvPr id="122" name="Google Shape;122;p4"/>
          <p:cNvCxnSpPr/>
          <p:nvPr/>
        </p:nvCxnSpPr>
        <p:spPr>
          <a:xfrm>
            <a:off x="6167200" y="4121132"/>
            <a:ext cx="0" cy="456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4"/>
          <p:cNvCxnSpPr/>
          <p:nvPr/>
        </p:nvCxnSpPr>
        <p:spPr>
          <a:xfrm>
            <a:off x="8536328" y="4095137"/>
            <a:ext cx="0" cy="456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" name="Google Shape;124;p4"/>
          <p:cNvSpPr/>
          <p:nvPr/>
        </p:nvSpPr>
        <p:spPr>
          <a:xfrm rot="5400000">
            <a:off x="7236777" y="4483155"/>
            <a:ext cx="202368" cy="1714114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แอตทริบิวต์ของแท็ก HTML</a:t>
            </a:r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แอตทริบิวต์ (Attribute) คือการกำหนดข้อมูลที่เป็นคุณลักษณะบางอย่างให้กับ tag html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เช่น tag รูปภาพ จำเป็นต้องมี attribute กำหนดตำแหน่งภาพ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เช่น tag ที่แสดงลิ้งก์ จำเป็นต้องมี attribute กำหนด url ปลายทางเมื่อคลิกลิ้งก์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Attribute มี 2 ลักษณะ คือ แบบกำหนดค่า และแบบบูลีน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accent4"/>
                </a:solidFill>
              </a:rPr>
              <a:t>Attribute แบบกำหนดค่า </a:t>
            </a:r>
            <a:r>
              <a:rPr lang="en-US" sz="2400">
                <a:solidFill>
                  <a:schemeClr val="dk1"/>
                </a:solidFill>
              </a:rPr>
              <a:t>ตามตัวอย่างด้านล่าง</a:t>
            </a:r>
            <a:endParaRPr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31" name="Google Shape;131;p5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790432" y="4605341"/>
            <a:ext cx="5308982" cy="52322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&lt;img src=“rose.jpg” alt=“rose”&gt;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5203681" y="4858327"/>
            <a:ext cx="4802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" name="Google Shape;134;p5"/>
          <p:cNvSpPr txBox="1"/>
          <p:nvPr/>
        </p:nvSpPr>
        <p:spPr>
          <a:xfrm>
            <a:off x="4178445" y="4682284"/>
            <a:ext cx="10252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Element or Tag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281516" y="3661349"/>
            <a:ext cx="17141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attribute src</a:t>
            </a:r>
            <a:endParaRPr sz="20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7466452" y="5586767"/>
            <a:ext cx="11922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ค่าของ src </a:t>
            </a:r>
            <a:endParaRPr/>
          </a:p>
        </p:txBody>
      </p:sp>
      <p:cxnSp>
        <p:nvCxnSpPr>
          <p:cNvPr id="137" name="Google Shape;137;p5"/>
          <p:cNvCxnSpPr/>
          <p:nvPr/>
        </p:nvCxnSpPr>
        <p:spPr>
          <a:xfrm>
            <a:off x="6887637" y="4065716"/>
            <a:ext cx="0" cy="456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" name="Google Shape;138;p5"/>
          <p:cNvCxnSpPr/>
          <p:nvPr/>
        </p:nvCxnSpPr>
        <p:spPr>
          <a:xfrm>
            <a:off x="9044328" y="4055507"/>
            <a:ext cx="0" cy="456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" name="Google Shape;139;p5"/>
          <p:cNvSpPr txBox="1"/>
          <p:nvPr/>
        </p:nvSpPr>
        <p:spPr>
          <a:xfrm>
            <a:off x="8330057" y="3635951"/>
            <a:ext cx="17141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attribute alt</a:t>
            </a:r>
            <a:endParaRPr sz="20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9448035" y="5584638"/>
            <a:ext cx="11922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ค่าของ alt </a:t>
            </a:r>
            <a:endParaRPr/>
          </a:p>
        </p:txBody>
      </p:sp>
      <p:cxnSp>
        <p:nvCxnSpPr>
          <p:cNvPr id="141" name="Google Shape;141;p5"/>
          <p:cNvCxnSpPr/>
          <p:nvPr/>
        </p:nvCxnSpPr>
        <p:spPr>
          <a:xfrm rot="10800000">
            <a:off x="7995624" y="5232311"/>
            <a:ext cx="0" cy="401816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" name="Google Shape;142;p5"/>
          <p:cNvCxnSpPr/>
          <p:nvPr/>
        </p:nvCxnSpPr>
        <p:spPr>
          <a:xfrm rot="10800000">
            <a:off x="9847515" y="5232311"/>
            <a:ext cx="0" cy="401816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แอตทริบิวต์ของแท็ก HTML</a:t>
            </a:r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accent4"/>
                </a:solidFill>
              </a:rPr>
              <a:t>Attribute แบบบูลีน (Boolean) </a:t>
            </a:r>
            <a:r>
              <a:rPr lang="en-US" sz="2400">
                <a:solidFill>
                  <a:schemeClr val="dk1"/>
                </a:solidFill>
              </a:rPr>
              <a:t>จะกำหนดค่าในลักษณะ on/off เช่น tag input มี attribute disabled สำหรับใช้ในการกำหนดว่า ให้ input นั้นใช้งานได้หรือไม่ </a:t>
            </a: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4312229" y="2651829"/>
            <a:ext cx="6429278" cy="2677656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&lt;input type=“text” disabled=“disabled”&gt;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&lt;input type=“text” disabled=“”&gt;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&lt;input type=“text” disabled=“true”&gt;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html5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&lt;input type=“text” disabled&gt;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สิ่งที่จำเป็นต้องมีใน tag &lt;head&gt;</a:t>
            </a:r>
            <a:endParaRPr/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&lt;head&gt;….&lt;/head&gt; เป็นส่วนหัวของเอกสารเว็บเพจ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ใช้กำหนดข้อมูลส่วนหัวเอกสาร ก่อนที่จะเริ่มเนื้อหา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เช่น ชื่อเพจ (Title) รหัสอักขระ (Encoding) การกำหนดรูปแบบด้วย css หรือคำสั่ง javascript เป็นต้น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accent4"/>
                </a:solidFill>
              </a:rPr>
              <a:t>ใน tag &lt;head&gt; อย่างน้อยจำเป็นต้องมี tag &lt;title&gt;…&lt;/title&gt; </a:t>
            </a:r>
            <a:r>
              <a:rPr lang="en-US" sz="2400"/>
              <a:t>เพื่อที่นอกจากจะปรากฎที่แท็บ web browser แล้ว ยังถูกนำไปแสดงในกรณีที่เพิ่มเพจลงใน bookmarks หรือผลลัพธ์ของการ search engine เช่น google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ข้อมูลทั้งหมดใน tag &lt;head&gt; จะไม่แสดงผลที่ web browser ยกเว้น tag &lt;title&gt;</a:t>
            </a:r>
            <a:endParaRPr sz="2400"/>
          </a:p>
        </p:txBody>
      </p:sp>
      <p:sp>
        <p:nvSpPr>
          <p:cNvPr id="157" name="Google Shape;157;p7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Tag อื่นๆ ที่น่าสนใจ</a:t>
            </a:r>
            <a:endParaRPr/>
          </a:p>
        </p:txBody>
      </p:sp>
      <p:sp>
        <p:nvSpPr>
          <p:cNvPr id="163" name="Google Shape;163;p8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&lt;hr&gt; เป็น single tag ใช้กำหนดเส้นแบ่งเนื้อหา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&lt;!--  --&gt; ใช้สำหรับอธิบาย code โดยจะไม่แสดงเนื้อหาออกทาง web browser และสามารถใช้งานได้เฉพาะ html เท่านั้น เช่น &lt;!-- ส่วนเมนูด้านบน --&gt; หรือ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การขีดเส้นทับ ด้วย tag &lt;s&gt;…&lt;/s&gt;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การเน้นข้อความด้วยแถบสี โดยใช้ &lt;mark&gt;…&lt;/ mark &gt;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การทำตัวห้อย ด้วย tag &lt;sub&gt;…&lt;/sub&gt;</a:t>
            </a: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การทำตัวยก ด้วย tag &lt;sup&gt;…&lt;/sup&gt;</a:t>
            </a:r>
            <a:endParaRPr/>
          </a:p>
        </p:txBody>
      </p:sp>
      <p:sp>
        <p:nvSpPr>
          <p:cNvPr id="164" name="Google Shape;164;p8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5859128" y="2193184"/>
            <a:ext cx="3335480" cy="1631216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&lt;!--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ส่วนเนื้อหาที่ 1 เกี่ยวกับที่มาและประวัติ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โดยจะอธิบายความเป็นมาและเป็นไปของปัญหา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รวมถึงวิธีการแก้ไขปัญหาดังกล่าว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--&gt;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อักขระพิเศษที่ใช้บ่อย</a:t>
            </a:r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&amp;nbsp; แทนช่องว่าง 1 ช่อง โดยปกติสามารถเว้นช่องว่างโดยการเคาะ space ได้เลยใน html แต่ถ้าต้องการเว้นช่องว่างมากกว่า 1 ช่อง จำเป็นต้องใช้อักขณะพิเศษแทน เช่น</a:t>
            </a:r>
            <a:endParaRPr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72" name="Google Shape;172;p9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4482909" y="2722713"/>
            <a:ext cx="6406763" cy="2282981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&lt;body&gt;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เว้นช่องว่าง 1 ช่อง หนึ่งช่อง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เว้นช่องว่าง 2 ช่อง&amp;nbsp;&amp;nbsp;สองช่อง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เว้นช่องว่าง 3 ช่อง&amp;nbsp;&amp;nbsp;&amp;nbsp;สามช่อง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เว้นช่องว่าง 5 ช่อง     ห้าช่อง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เว้นช่องว่าง 5 ช่อง &amp;nbsp;&amp;nbsp;&amp;nbsp; &amp;nbsp;&amp;nbsp;ห้าช่อง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&lt;/body&gt;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อักขระพิเศษที่ใช้บ่อย</a:t>
            </a:r>
            <a:endParaRPr/>
          </a:p>
        </p:txBody>
      </p:sp>
      <p:sp>
        <p:nvSpPr>
          <p:cNvPr id="179" name="Google Shape;179;p10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  <a:p>
            <a:pPr marL="182880" lvl="0" indent="-304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180" name="Google Shape;180;p10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graphicFrame>
        <p:nvGraphicFramePr>
          <p:cNvPr id="181" name="Google Shape;181;p10"/>
          <p:cNvGraphicFramePr/>
          <p:nvPr/>
        </p:nvGraphicFramePr>
        <p:xfrm>
          <a:off x="5504873" y="1062436"/>
          <a:ext cx="4618175" cy="4723875"/>
        </p:xfrm>
        <a:graphic>
          <a:graphicData uri="http://schemas.openxmlformats.org/drawingml/2006/table">
            <a:tbl>
              <a:tblPr firstRow="1" bandRow="1">
                <a:noFill/>
                <a:tableStyleId>{78BEE984-6589-4D63-B493-26A4D395C885}</a:tableStyleId>
              </a:tblPr>
              <a:tblGrid>
                <a:gridCol w="226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อักขระพิเศษ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html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ช่องว่าง 1 ช่อง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&amp;nbsp;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&lt;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&amp;lt; (less than)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&gt;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&amp;gt; (greater than)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“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&amp;quot;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‘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&amp;apos;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&amp;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&amp;amp;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©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&amp;copy; (copyrights)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4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®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rbel"/>
                        <a:buNone/>
                      </a:pPr>
                      <a:r>
                        <a:rPr lang="en-US" sz="1800" u="none" strike="noStrike" cap="none"/>
                        <a:t>&amp;reg; (registered)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การจัดรูปแบบให้ตรงกับใน code ด้วย tag &lt;pre&gt;</a:t>
            </a:r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&lt;pre&gt;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วันนี้รุ่ง พรุ่งนี้ร่วง ดวงไม่แน่   วันนี้แย่ พรุ่งนี้ยัง กลับดังได้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      วันนี้เด่น พรุ่งนี้ดับ กลับกันไป   โปรดจำไว้ ทุกชีวิต อนิจจัง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      &lt;/pre&gt;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&lt;hr&gt;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b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ตัวอย่างโค้ด JavaScript: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&lt;pre&gt;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function hello() {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if (1 == 1) {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    alert('Hello World')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}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&lt;/pre&gt;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การสร้างรายการแบบลำดับต่อเนื่อง</a:t>
            </a:r>
            <a:endParaRPr/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3869268" y="469203"/>
            <a:ext cx="7493185" cy="551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indent="-182880">
              <a:lnSpc>
                <a:spcPct val="71250"/>
              </a:lnSpc>
              <a:spcBef>
                <a:spcPts val="0"/>
              </a:spcBef>
              <a:buSzPts val="2000"/>
            </a:pPr>
            <a:r>
              <a:rPr lang="en-US">
                <a:solidFill>
                  <a:schemeClr val="dk1"/>
                </a:solidFill>
                <a:latin typeface="Consolas"/>
              </a:rPr>
              <a:t>&lt;body&gt;</a:t>
            </a:r>
            <a:endParaRPr lang="th-TH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dk1"/>
                </a:solidFill>
                <a:latin typeface="Consolas"/>
              </a:rPr>
              <a:t>    &lt;b&gt;การนับเลขในภาษาอังกฤษ&lt;/b&gt;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dk1"/>
                </a:solidFill>
                <a:latin typeface="Consolas"/>
              </a:rPr>
              <a:t>    </a:t>
            </a:r>
            <a:r>
              <a:rPr lang="en-US">
                <a:solidFill>
                  <a:schemeClr val="accent4"/>
                </a:solidFill>
                <a:latin typeface="Consolas"/>
              </a:rPr>
              <a:t>&lt;ol start="0"&gt; </a:t>
            </a:r>
            <a:r>
              <a:rPr lang="en-US">
                <a:solidFill>
                  <a:schemeClr val="accent5"/>
                </a:solidFill>
                <a:latin typeface="Consolas"/>
              </a:rPr>
              <a:t>🡪 สามารถกำหนดค่าเริ่มต้นได้ แต่ถ้าไม่กำหนดจะเริ่มที่ 1 เสมอ</a:t>
            </a:r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&lt;li&gt;Zero&lt;/li&gt;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&lt;li&gt;One&lt;/li&gt;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&lt;li&gt;Two&lt;/li&gt;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&lt;li&gt;Three&lt;/li&gt;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&lt;/ol&gt;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dk1"/>
                </a:solidFill>
                <a:latin typeface="Consolas"/>
              </a:rPr>
              <a:t>    &lt;hr&gt;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dk1"/>
                </a:solidFill>
                <a:latin typeface="Consolas"/>
              </a:rPr>
              <a:t>    &lt;b&gt;แผนการดำเนินกิจการ (ปีพ.ศ.)&lt;/b&gt;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&lt;ol start="2566"&gt;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&lt;li&gt;เริ่มต้นโครงการ&lt;/li&gt;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&lt;li&gt;เริ่มเปิดให้บริการ&lt;/li&gt;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    &lt;li&gt;ขยายโครงการ&lt;/li&gt;</a:t>
            </a:r>
            <a:endParaRPr lang="en-US"/>
          </a:p>
          <a:p>
            <a:pPr marL="182880" indent="-182880">
              <a:lnSpc>
                <a:spcPct val="71250"/>
              </a:lnSpc>
              <a:buSzPts val="2000"/>
            </a:pPr>
            <a:r>
              <a:rPr lang="en-US">
                <a:solidFill>
                  <a:schemeClr val="accent4"/>
                </a:solidFill>
                <a:latin typeface="Consolas"/>
              </a:rPr>
              <a:t>    &lt;/ol&gt;</a:t>
            </a:r>
            <a:endParaRPr lang="th-TH"/>
          </a:p>
          <a:p>
            <a:pPr marL="182880" lvl="0" indent="-182880" algn="l">
              <a:lnSpc>
                <a:spcPct val="71250"/>
              </a:lnSpc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</a:rPr>
              <a:t>&lt;/body&gt;</a:t>
            </a:r>
            <a:endParaRPr lang="th-TH"/>
          </a:p>
        </p:txBody>
      </p:sp>
      <p:sp>
        <p:nvSpPr>
          <p:cNvPr id="195" name="Google Shape;195;p12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การสร้างรายการแบบไม่เป็นลำดับต่อเนื่อง</a:t>
            </a:r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&lt;b&gt;พื้นฐานสำคัญของการสร้างเว็บ&lt;/b&gt;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        &lt;li&gt;html&lt;/li&gt;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        &lt;li&gt;css&lt;/li&gt;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        &lt;li&gt;javascript&lt;/li&gt;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    &lt;/</a:t>
            </a: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l&gt;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934035" y="1123837"/>
            <a:ext cx="2992582" cy="92333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&lt;ul type=“disc”&gt; จุดสีดำทึบ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&lt;ul type=“circle”&gt; วงกลมสีขาวกลวง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&lt;ul type=“square”&gt; สี่เหลี่ยมสีดำทึบ</a:t>
            </a:r>
            <a:endParaRPr/>
          </a:p>
        </p:txBody>
      </p:sp>
      <p:sp>
        <p:nvSpPr>
          <p:cNvPr id="204" name="Google Shape;204;p13"/>
          <p:cNvSpPr txBox="1"/>
          <p:nvPr/>
        </p:nvSpPr>
        <p:spPr>
          <a:xfrm>
            <a:off x="7744690" y="4822923"/>
            <a:ext cx="29925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ถ้าต้องการสร้างรายการซ้อนกันหล่ะ?</a:t>
            </a:r>
            <a:endParaRPr sz="2400">
              <a:solidFill>
                <a:srgbClr val="C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2564172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การสร้างรายการแบบคำบรรยาย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&lt;h4&gt;พื้นฐานสำคัญของการสร้างเว็บ&lt;/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&lt;d</a:t>
            </a: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        &lt;dt&gt;&lt;b&gt;html&lt;/b&gt;&lt;/dt&gt;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&lt;dd&gt;ย่อมาจาก Hypertext Markup Language…&lt;/dd&gt;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&lt;dt&gt;&lt;b&gt;css&lt;/b&gt;&lt;/dt&gt;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&lt;dd&gt;ย่อมาจาก Cascading Style Sheets…&lt;/dd&gt;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&lt;dt&gt;&lt;b&gt;javascript&lt;/b&gt;&lt;/dt&gt;</a:t>
            </a:r>
            <a:endParaRPr/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	   &lt;dd&gt;</a:t>
            </a:r>
            <a:r>
              <a:rPr lang="en-US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เป็นภาษาที่ใช้เขียนสคริปต์…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&lt;/dd&gt;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    &lt;/dl&gt;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9055702" y="401978"/>
            <a:ext cx="2714205" cy="92333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&lt;dl&gt; ใช้กำหนดขอบเขตทั้งหมดของรายการ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&lt;dt&gt; ใช้กำหนดคำที่จะบรรยาย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&lt;dd&gt; ใช้เขียนคำบรรยาย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2564172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สร้างการเชื่อมโยงในเว็บไซต์เดียวกัน</a:t>
            </a:r>
            <a:endParaRPr/>
          </a:p>
        </p:txBody>
      </p:sp>
      <p:sp>
        <p:nvSpPr>
          <p:cNvPr id="218" name="Google Shape;218;p15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lang="en-US">
              <a:solidFill>
                <a:schemeClr val="dk1"/>
              </a:solidFill>
            </a:endParaRPr>
          </a:p>
          <a:p>
            <a:pPr marL="182880" indent="-182880">
              <a:lnSpc>
                <a:spcPct val="79166"/>
              </a:lnSpc>
            </a:pPr>
            <a:r>
              <a:rPr lang="en-US" sz="18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 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="index.html"&gt;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หน้าแรก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&lt;/a&gt;&lt;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182880" indent="-182880">
              <a:lnSpc>
                <a:spcPct val="79166"/>
              </a:lnSpc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en-U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member/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index.html"&gt;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เข้าสู่ระบบ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&lt;/a&gt;&lt;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182880" indent="-182880">
              <a:lnSpc>
                <a:spcPct val="79166"/>
              </a:lnSpc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="member/signup.html"&gt;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สมัครสมาชิก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&lt;/a&gt;&lt;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182880" indent="-182880">
              <a:lnSpc>
                <a:spcPct val="79166"/>
              </a:lnSpc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="product/product-list.html"&gt;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รายการสินค้า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&lt;/a&gt;&lt;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en-US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182880" indent="-182880">
              <a:lnSpc>
                <a:spcPct val="79166"/>
              </a:lnSpc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="product/new-arrival.html"&gt;</a:t>
            </a:r>
            <a:r>
              <a:rPr lang="en-US" sz="180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สินค้ามาใหม่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lang="en-US">
              <a:solidFill>
                <a:schemeClr val="dk1"/>
              </a:solidFill>
            </a:endParaRPr>
          </a:p>
          <a:p>
            <a:pPr marL="182880" lvl="0" indent="-182880" algn="l" rtl="0">
              <a:lnSpc>
                <a:spcPct val="79166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lang="en-US">
              <a:solidFill>
                <a:schemeClr val="dk1"/>
              </a:solidFill>
            </a:endParaRPr>
          </a:p>
        </p:txBody>
      </p:sp>
      <p:sp>
        <p:nvSpPr>
          <p:cNvPr id="219" name="Google Shape;219;p15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2564172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ลิ้งก์สำหรับการส่งอีเมล mailto</a:t>
            </a:r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สร้างลิ้งก์เพื่อให้ผู้ใช้คลิก แล้วเปิดไปยัง application ที่ใช้ในการส่งเมล เช่น Outlook</a:t>
            </a:r>
            <a:endParaRPr/>
          </a:p>
          <a:p>
            <a:pPr marL="182880" lvl="0" indent="-68579" algn="l" rtl="0">
              <a:lnSpc>
                <a:spcPct val="79166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68579" algn="l" rtl="0">
              <a:lnSpc>
                <a:spcPct val="79166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 href=“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mailto: someone@somewhere.com"</a:t>
            </a: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&gt;ส่งอีเมลเพื่อติดต่อฉัน&lt;/a&gt;</a:t>
            </a:r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ลิ้งก์สำหรับการดาวน์โหลดไฟล์</a:t>
            </a:r>
            <a:endParaRPr/>
          </a:p>
        </p:txBody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&lt;h4&gt;เลือกไฟล์ที่ต้องการดาวน์โหลด&lt;/h4&gt;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href="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web.pdf</a:t>
            </a: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"&gt;PDF File&lt;/a&gt;&lt;br&gt;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href="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word.docx</a:t>
            </a: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"&gt;Word Document&lt;/a&gt;&lt;br&gt;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&lt;a href="</a:t>
            </a:r>
            <a:r>
              <a:rPr lang="en-US" b="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test/xxx.zip</a:t>
            </a: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"&gt;Zip File&lt;/a&gt;</a:t>
            </a:r>
            <a:endParaRPr/>
          </a:p>
          <a:p>
            <a:pPr marL="182880" lvl="0" indent="-182880" algn="l" rtl="0">
              <a:lnSpc>
                <a:spcPct val="7125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การแสดงรูปภาพบนเว็บเพจ</a:t>
            </a:r>
            <a:endParaRPr/>
          </a:p>
        </p:txBody>
      </p:sp>
      <p:sp>
        <p:nvSpPr>
          <p:cNvPr id="247" name="Google Shape;247;p19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ใช้ tag &lt;img&gt; ซึ่งเป็น single tag เช่นเดียวกับ &lt;br&gt;หรือ&lt;hr&gt;</a:t>
            </a:r>
            <a:endParaRPr/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p19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5884082" y="2759119"/>
            <a:ext cx="2991525" cy="1938992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&lt;img src=“ไฟล์รูปภาพ”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     alt=“ข้อความแทนรูปภาพ”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  title=“ข้อความ tooltip”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  width=“ความกว้าง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  height=“ความสูง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&gt;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การเล่นไฟล์มัลติเมเดียบนเว็บเพจ (Video)</a:t>
            </a:r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880" lvl="0" indent="-182880" algn="l" rtl="0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b="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ใช้ tag &lt;</a:t>
            </a:r>
            <a:r>
              <a:rPr lang="en-US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video</a:t>
            </a:r>
            <a:r>
              <a:rPr lang="en-US" b="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&gt; สามารถรองรับ ไฟล์ 3 ประเภท คือ </a:t>
            </a:r>
            <a:r>
              <a:rPr lang="en-US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mp4 webm และ ogg</a:t>
            </a:r>
            <a:endParaRPr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18288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muted controls loops autoplay เป็น attribute แบบ Boolean </a:t>
            </a:r>
            <a:endParaRPr/>
          </a:p>
          <a:p>
            <a:pPr marL="685800" lvl="1" indent="-30480" algn="l" rtl="0">
              <a:lnSpc>
                <a:spcPct val="59375"/>
              </a:lnSpc>
              <a:spcBef>
                <a:spcPts val="25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muted กำหนดเมื่อต้องการให้ไม่มีเสียง</a:t>
            </a:r>
            <a:endParaRPr/>
          </a:p>
          <a:p>
            <a:pPr marL="685800" lvl="1" indent="-304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controls กำหนดเมื่อต้องการแสดงปุ่มควบคุมการเล่น</a:t>
            </a:r>
            <a:endParaRPr sz="2400">
              <a:solidFill>
                <a:srgbClr val="3F3F3F"/>
              </a:solidFill>
            </a:endParaRPr>
          </a:p>
          <a:p>
            <a:pPr marL="685800" lvl="1" indent="-304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loops กำหนดเมื่อต้องการเล่นไฟล์ซ้ำ</a:t>
            </a:r>
            <a:endParaRPr sz="2400"/>
          </a:p>
          <a:p>
            <a:pPr marL="685800" lvl="1" indent="-304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autoplay กำหนดเมื่อต้องการเล่นไฟล์อัตโนมัติ</a:t>
            </a:r>
            <a:endParaRPr sz="2400"/>
          </a:p>
          <a:p>
            <a:pPr marL="0" lvl="0" indent="0" algn="l" rtl="0">
              <a:lnSpc>
                <a:spcPct val="50892"/>
              </a:lnSpc>
              <a:spcBef>
                <a:spcPts val="145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20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7280605" y="3994424"/>
            <a:ext cx="4078361" cy="2246769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&lt;video src=“ไฟล์วิดีโอ”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width=“ความกว้าง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height=“ความสูง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preload=“none, auto, metadata”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poster=“ไฟล์ภาพปก”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muted controls loops autoplay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&gt;&lt;/video&gt;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การเล่นไฟล์มัลติเมเดียบนเว็บเพจ (Video)</a:t>
            </a:r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18288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attribute preload ใช้สำหรับกำหนดการโหลดไฟล์วิดีโอล่วงหน้า ถือเป็นทางเลือกใน</a:t>
            </a:r>
            <a:endParaRPr/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3F3F3F"/>
                </a:solidFill>
              </a:rPr>
              <a:t>  กรณีที่เราไม่กำหนด autoplay</a:t>
            </a:r>
            <a:endParaRPr/>
          </a:p>
          <a:p>
            <a:pPr marL="685800" lvl="1" indent="-30480" algn="l" rtl="0">
              <a:lnSpc>
                <a:spcPct val="59375"/>
              </a:lnSpc>
              <a:spcBef>
                <a:spcPts val="25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none ไม่โหลดวิดีโอล่วงหน้า จนกว่าผู้ใช้จะคลิกปุ่มเริ่มเล่น</a:t>
            </a:r>
            <a:endParaRPr/>
          </a:p>
          <a:p>
            <a:pPr marL="685800" lvl="1" indent="-304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auto โหลดวิดีโอไว้ล่วงหน้าทันที</a:t>
            </a:r>
            <a:endParaRPr/>
          </a:p>
          <a:p>
            <a:pPr marL="685800" lvl="1" indent="-304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685800" lvl="1" indent="-1828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metadata โหลดเฉพาะข้อมูลเกี่ยวกับวิดีโอ เช่น ขนาดกว้าง*สูง เฟรมแรก หรือ</a:t>
            </a:r>
            <a:endParaRPr/>
          </a:p>
          <a:p>
            <a:pPr marL="502919" lvl="1" indent="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3F3F3F"/>
                </a:solidFill>
              </a:rPr>
              <a:t>   ความยาว (เวลา)</a:t>
            </a:r>
            <a:endParaRPr/>
          </a:p>
          <a:p>
            <a:pPr marL="685800" lvl="1" indent="-30480" algn="l" rtl="0">
              <a:lnSpc>
                <a:spcPct val="59375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182880" algn="l" rtl="0">
              <a:lnSpc>
                <a:spcPct val="59375"/>
              </a:lnSpc>
              <a:spcBef>
                <a:spcPts val="145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attribute poster ใช้สำหรับกำหนดภาพที่ต้องการแสดงก่อนเล่นไฟล์วิดีโอ และถ้าจะ</a:t>
            </a:r>
            <a:endParaRPr/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3F3F3F"/>
                </a:solidFill>
              </a:rPr>
              <a:t>   ใช้แอททริบิวส์นี้ ไม่ควรกำหนด autoplay</a:t>
            </a:r>
            <a:endParaRPr/>
          </a:p>
          <a:p>
            <a:pPr marL="0" lvl="0" indent="0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21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7585630" y="4250869"/>
            <a:ext cx="4078361" cy="2246769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&lt;video src=“ไฟล์วิดีโอ”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width=“ความกว้าง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height=“ความสูง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preload=“none, auto, metadata”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poster=“ไฟล์ภาพปก”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muted controls loops autoplay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&gt;&lt;/video&gt;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การเล่นไฟล์มัลติเมเดียบนเว็บเพจ (Audio)</a:t>
            </a:r>
            <a:endParaRPr/>
          </a:p>
        </p:txBody>
      </p:sp>
      <p:sp>
        <p:nvSpPr>
          <p:cNvPr id="274" name="Google Shape;274;p22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18288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ใช้ tag &lt;audio&gt; สำหรับ attribute เช่นเดียวกับ tag &lt;video&gt;</a:t>
            </a:r>
            <a:endParaRPr/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22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5134226" y="3127484"/>
            <a:ext cx="4905510" cy="1015663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&lt;audio src=“ไฟล์เสียง”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preload muted controls loops autoplay&gt;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&lt;/audio&gt;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การแสดงวิดีโอจาก YouTube</a:t>
            </a:r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18288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ใช้ tag &lt;iframe&gt; ในการแสดงไฟล์จาก YouTube </a:t>
            </a:r>
            <a:endParaRPr sz="2400">
              <a:solidFill>
                <a:srgbClr val="3F3F3F"/>
              </a:solidFill>
            </a:endParaRPr>
          </a:p>
          <a:p>
            <a:pPr marL="182880" lvl="0" indent="-18288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rgbClr val="3F3F3F"/>
                </a:solidFill>
              </a:rPr>
              <a:t>จำเป็นต้องใช้ค่า id ของไฟล์วิดีโอ เช่น ในไฮไลท์สีเหลือง</a:t>
            </a:r>
            <a:endParaRPr/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5079" algn="l" rtl="0">
              <a:lnSpc>
                <a:spcPct val="50892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endParaRPr sz="28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4" name="Google Shape;284;p23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334131" y="2911068"/>
            <a:ext cx="6850337" cy="1631216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&lt;iframe src=“https://www.youtube.com/embed/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orbel"/>
                <a:ea typeface="Corbel"/>
                <a:cs typeface="Corbel"/>
                <a:sym typeface="Corbel"/>
              </a:rPr>
              <a:t>mzPxo7Y6JyA</a:t>
            </a: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width=“ความกว้าง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height=“ความสูง (pixel)”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allowfullscreen&gt;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&lt;/ iframe&gt;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>
            <a:spLocks noGrp="1"/>
          </p:cNvSpPr>
          <p:nvPr>
            <p:ph type="title"/>
          </p:nvPr>
        </p:nvSpPr>
        <p:spPr>
          <a:xfrm>
            <a:off x="252919" y="1123838"/>
            <a:ext cx="3136826" cy="465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การสร้าง basic table</a:t>
            </a:r>
            <a:endParaRPr/>
          </a:p>
        </p:txBody>
      </p:sp>
      <p:sp>
        <p:nvSpPr>
          <p:cNvPr id="292" name="Google Shape;292;p24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59375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0" lvl="0" indent="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>
              <a:solidFill>
                <a:srgbClr val="3F3F3F"/>
              </a:solidFill>
            </a:endParaRPr>
          </a:p>
          <a:p>
            <a:pPr marL="182880" lvl="0" indent="-13843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กำหนดหัวแถวตารางด้วย &lt;th&gt;…&lt;/th&gt;</a:t>
            </a:r>
            <a:endParaRPr sz="1300"/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17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13843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กำหนดป้ายชื่อตารางด้วย &lt;caption&gt;…&lt;/caption&gt;</a:t>
            </a:r>
            <a:endParaRPr sz="1300"/>
          </a:p>
          <a:p>
            <a:pPr marL="182880" lvl="0" indent="-30479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13843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การจัดกลุ่มแถวของตารางด้วย &lt;thead&gt;</a:t>
            </a:r>
            <a:r>
              <a:rPr lang="en-US" sz="17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…&lt;/thead&gt; 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จัดกลุ่มหัวตาราง</a:t>
            </a:r>
            <a:endParaRPr sz="1300"/>
          </a:p>
          <a:p>
            <a:pPr marL="182880" lvl="0" indent="-13843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การจัดกลุ่มแถวของตารางด้วย &lt;tbody&gt;</a:t>
            </a:r>
            <a:r>
              <a:rPr lang="en-US" sz="17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…&lt;/tbody&gt; 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จัดกลุ่มเนื้อหาตาราง</a:t>
            </a:r>
            <a:endParaRPr sz="17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" lvl="0" indent="-13843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การจัดกลุ่มแถวของตารางด้วย &lt;tfoot&gt;</a:t>
            </a:r>
            <a:r>
              <a:rPr lang="en-US" sz="17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…&lt;/tfoot&gt; 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จัดกลุ่มท้ายตาราง</a:t>
            </a:r>
            <a:endParaRPr sz="1300"/>
          </a:p>
          <a:p>
            <a:pPr marL="182880" lvl="0" indent="-138430" algn="l" rtl="0">
              <a:lnSpc>
                <a:spcPct val="59375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 b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การจัดกลุ่มจะมีประโยชน์ เมื่อต้องการปรับแต่ง css</a:t>
            </a:r>
            <a:r>
              <a:rPr lang="en-U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ในภายหลัง</a:t>
            </a:r>
            <a:endParaRPr sz="2100" b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" name="Google Shape;293;p24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5161975" y="330498"/>
            <a:ext cx="6022500" cy="28629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&lt;table border=“1”&gt;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&lt;tr&gt;&lt;td&gt;ข้อมูล&lt;/td&gt;&lt;td&gt;ข้อมูล&lt;/td&gt;&lt;td&gt;ข้อมูล&lt;/td&gt;…&lt;/tr&gt;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&lt;tr&gt;&lt;td&gt;ข้อมูล&lt;/td&gt;&lt;td&gt;ข้อมูล&lt;/td&gt;&lt;td&gt;ข้อมูล&lt;/td&gt;…&lt;/tr&gt;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&lt;tr&gt;&lt;td&gt;ข้อมูล&lt;/td&gt;&lt;td&gt;ข้อมูล&lt;/td&gt;&lt;td&gt;ข้อมูล&lt;/td&gt;…&lt;/tr&gt;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&lt;/table&gt;</a:t>
            </a:r>
            <a:endParaRPr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 SOURCES</a:t>
            </a:r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Google, YouTube, Free Course Online: HTML5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Social Network (FB, TikTok, X, Discord): HTML5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https://mecode.blog/categories/basics-of-web-development/articles/organizing-html-code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https://html5-tutorial.net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https://html.com</a:t>
            </a:r>
            <a:endParaRPr/>
          </a:p>
          <a:p>
            <a:pPr marL="182880" lvl="0" indent="-558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182880" lvl="0" indent="-558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182880" lvl="0" indent="-5587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ftr" idx="11"/>
          </p:nvPr>
        </p:nvSpPr>
        <p:spPr>
          <a:xfrm>
            <a:off x="5351463" y="6497638"/>
            <a:ext cx="6840537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F1719"/>
                </a:solidFill>
              </a:rPr>
              <a:t>School of Information and Communication Technology., UNIVERSITY of Phayao</a:t>
            </a:r>
            <a:endParaRPr sz="1400">
              <a:solidFill>
                <a:srgbClr val="6F171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0F1F4E36E7F04346B07C5D6EDE9E6C86" ma:contentTypeVersion="3" ma:contentTypeDescription="สร้างเอกสารใหม่" ma:contentTypeScope="" ma:versionID="5c5819b394a1e203b90087df7f384a46">
  <xsd:schema xmlns:xsd="http://www.w3.org/2001/XMLSchema" xmlns:xs="http://www.w3.org/2001/XMLSchema" xmlns:p="http://schemas.microsoft.com/office/2006/metadata/properties" xmlns:ns2="2b234cf5-ae17-438b-98a5-d0c61c711981" targetNamespace="http://schemas.microsoft.com/office/2006/metadata/properties" ma:root="true" ma:fieldsID="7dc92cc42f6e5c6da84ecff88da1b88e" ns2:_="">
    <xsd:import namespace="2b234cf5-ae17-438b-98a5-d0c61c7119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234cf5-ae17-438b-98a5-d0c61c7119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29D031-0686-4880-9136-FC8D1B162D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B70D0B-42E4-4D9D-9536-0D659056C40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A433DA1-D211-4676-8E40-F9235A26D48B}">
  <ds:schemaRefs>
    <ds:schemaRef ds:uri="2b234cf5-ae17-438b-98a5-d0c61c7119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Frame</vt:lpstr>
      <vt:lpstr>(227221)  Introduction to HTML5 (2)</vt:lpstr>
      <vt:lpstr>AGENDA</vt:lpstr>
      <vt:lpstr>AGENDA</vt:lpstr>
      <vt:lpstr>แท็กและอิลิเมนต์ของ HTML</vt:lpstr>
      <vt:lpstr>แอตทริบิวต์ของแท็ก HTML</vt:lpstr>
      <vt:lpstr>แอตทริบิวต์ของแท็ก HTML</vt:lpstr>
      <vt:lpstr>สิ่งที่จำเป็นต้องมีใน tag &lt;head&gt;</vt:lpstr>
      <vt:lpstr>Tag อื่นๆ ที่น่าสนใจ</vt:lpstr>
      <vt:lpstr>อักขระพิเศษที่ใช้บ่อย</vt:lpstr>
      <vt:lpstr>อักขระพิเศษที่ใช้บ่อย</vt:lpstr>
      <vt:lpstr>การจัดรูปแบบให้ตรงกับใน code ด้วย tag &lt;pre&gt;</vt:lpstr>
      <vt:lpstr>การสร้างรายการแบบลำดับต่อเนื่อง</vt:lpstr>
      <vt:lpstr>การสร้างรายการแบบไม่เป็นลำดับต่อเนื่อง</vt:lpstr>
      <vt:lpstr>การสร้างรายการแบบคำบรรยาย</vt:lpstr>
      <vt:lpstr>สร้างการเชื่อมโยงในเว็บไซต์เดียวกัน</vt:lpstr>
      <vt:lpstr>ลิ้งก์สำหรับการส่งอีเมล mailto</vt:lpstr>
      <vt:lpstr>ลิ้งก์สำหรับการดาวน์โหลดไฟล์</vt:lpstr>
      <vt:lpstr>การแสดงรูปภาพบนเว็บเพจ</vt:lpstr>
      <vt:lpstr>การเล่นไฟล์มัลติเมเดียบนเว็บเพจ (Video)</vt:lpstr>
      <vt:lpstr>การเล่นไฟล์มัลติเมเดียบนเว็บเพจ (Video)</vt:lpstr>
      <vt:lpstr>การเล่นไฟล์มัลติเมเดียบนเว็บเพจ (Audio)</vt:lpstr>
      <vt:lpstr>การแสดงวิดีโอจาก YouTube</vt:lpstr>
      <vt:lpstr>การสร้าง basic table</vt:lpstr>
      <vt:lpstr>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revision>1</cp:revision>
  <dcterms:created xsi:type="dcterms:W3CDTF">2024-10-27T10:25:40Z</dcterms:created>
  <dcterms:modified xsi:type="dcterms:W3CDTF">2025-11-24T07:14:38Z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0x0101000F1F4E36E7F04346B07C5D6EDE9E6C86</vt:lpwstr>
  </property>
</Properties>
</file>